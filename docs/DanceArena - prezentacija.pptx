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.png" ContentType="image/png"/>
  <Override PartName="/ppt/media/image2.png" ContentType="image/png"/>
  <Override PartName="/ppt/media/hdphoto1.wdp" ContentType="image/vnd.ms-photo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hdphoto2.wdp" ContentType="image/vnd.ms-photo"/>
  <Override PartName="/ppt/media/image8.png" ContentType="image/png"/>
  <Override PartName="/ppt/media/image9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hr-HR" sz="4400" spc="-1" strike="noStrike">
                <a:latin typeface="Arial"/>
              </a:rPr>
              <a:t>Kliknite za premještanje slajda</a:t>
            </a:r>
            <a:endParaRPr b="0" lang="hr-HR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hr-HR" sz="2000" spc="-1" strike="noStrike">
                <a:latin typeface="Arial"/>
              </a:rPr>
              <a:t>Kliknite za uređivanje formata bilješki</a:t>
            </a:r>
            <a:endParaRPr b="0" lang="hr-HR" sz="20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hr-HR" sz="1400" spc="-1" strike="noStrike">
                <a:latin typeface="Times New Roman"/>
              </a:rPr>
              <a:t>&lt;zaglavlje&gt;</a:t>
            </a:r>
            <a:endParaRPr b="0" lang="hr-HR" sz="14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hr-HR" sz="1400" spc="-1" strike="noStrike">
                <a:latin typeface="Times New Roman"/>
              </a:rPr>
              <a:t>&lt;datum/vrijeme&gt;</a:t>
            </a:r>
            <a:endParaRPr b="0" lang="hr-HR" sz="1400" spc="-1" strike="noStrike"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hr-HR" sz="1400" spc="-1" strike="noStrike">
                <a:latin typeface="Times New Roman"/>
              </a:rPr>
              <a:t>&lt;podnožje&gt;</a:t>
            </a:r>
            <a:endParaRPr b="0" lang="hr-HR" sz="1400" spc="-1" strike="noStrike"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buNone/>
            </a:pPr>
            <a:fld id="{66EF2FF3-86F7-4799-B153-7CA69AE83ED9}" type="slidenum">
              <a:rPr b="0" lang="hr-HR" sz="1400" spc="-1" strike="noStrike">
                <a:latin typeface="Times New Roman"/>
              </a:rPr>
              <a:t>&lt;broj-slajda&gt;</a:t>
            </a:fld>
            <a:endParaRPr b="0" lang="hr-H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hr-HR" sz="20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47B76A7F-BEA6-4C85-9142-6F06D5AA6C8C}" type="slidenum">
              <a:rPr b="0" lang="hr-HR" sz="1200" spc="-1" strike="noStrike">
                <a:latin typeface="Times New Roman"/>
              </a:rPr>
              <a:t>&lt;broj-slajda&gt;</a:t>
            </a:fld>
            <a:endParaRPr b="0" lang="hr-H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hr-HR" sz="20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C0B34DE2-DFE4-4746-9B16-91639C1D5BB8}" type="slidenum">
              <a:rPr b="0" lang="hr-HR" sz="1200" spc="-1" strike="noStrike">
                <a:latin typeface="Times New Roman"/>
              </a:rPr>
              <a:t>&lt;broj-slajda&gt;</a:t>
            </a:fld>
            <a:endParaRPr b="0" lang="hr-H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Just list no need to elaborate in this stage!</a:t>
            </a:r>
            <a:endParaRPr b="0" lang="hr-HR" sz="20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0E6574C7-8275-406B-BD00-E807123D2795}" type="slidenum">
              <a:rPr b="0" lang="hr-HR" sz="1200" spc="-1" strike="noStrike">
                <a:latin typeface="Times New Roman"/>
              </a:rPr>
              <a:t>&lt;broj-slajda&gt;</a:t>
            </a:fld>
            <a:endParaRPr b="0" lang="hr-H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000" spc="-1" strike="noStrike">
                <a:latin typeface="Arial"/>
              </a:rPr>
              <a:t>Navedite samo svoju viziju projektne ideje...</a:t>
            </a:r>
            <a:endParaRPr b="0" lang="hr-HR" sz="20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E0D4547A-C502-4712-84EC-66C9624FBB0E}" type="slidenum">
              <a:rPr b="0" lang="hr-HR" sz="1200" spc="-1" strike="noStrike">
                <a:latin typeface="Times New Roman"/>
              </a:rPr>
              <a:t>&lt;broj-slajda&gt;</a:t>
            </a:fld>
            <a:endParaRPr b="0" lang="hr-H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hr-HR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hr-H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microsoft.com/office/2007/relationships/hdphoto" Target="../media/hdphoto2.wdp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/>
          <p:cNvSpPr/>
          <p:nvPr/>
        </p:nvSpPr>
        <p:spPr>
          <a:xfrm>
            <a:off x="72000" y="887400"/>
            <a:ext cx="8998920" cy="4464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/>
          <p:cNvSpPr/>
          <p:nvPr/>
        </p:nvSpPr>
        <p:spPr>
          <a:xfrm>
            <a:off x="0" y="6816240"/>
            <a:ext cx="9142920" cy="34920"/>
          </a:xfrm>
          <a:prstGeom prst="rect">
            <a:avLst/>
          </a:prstGeom>
          <a:gradFill rotWithShape="0">
            <a:gsLst>
              <a:gs pos="3000">
                <a:srgbClr val="ffffff">
                  <a:alpha val="56078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240" cy="547560"/>
          </a:xfrm>
          <a:prstGeom prst="rect">
            <a:avLst/>
          </a:prstGeom>
          <a:ln w="0">
            <a:noFill/>
          </a:ln>
        </p:spPr>
      </p:pic>
      <p:pic>
        <p:nvPicPr>
          <p:cNvPr id="3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3600" cy="305280"/>
          </a:xfrm>
          <a:prstGeom prst="rect">
            <a:avLst/>
          </a:prstGeom>
          <a:ln w="0">
            <a:noFill/>
          </a:ln>
        </p:spPr>
      </p:pic>
      <p:sp>
        <p:nvSpPr>
          <p:cNvPr id="4" name="Blank"/>
          <p:cNvSpPr/>
          <p:nvPr/>
        </p:nvSpPr>
        <p:spPr>
          <a:xfrm>
            <a:off x="13680" y="-4320"/>
            <a:ext cx="9142920" cy="9896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" name="UNI_Logo" descr=""/>
          <p:cNvPicPr/>
          <p:nvPr/>
        </p:nvPicPr>
        <p:blipFill>
          <a:blip r:embed="rId5"/>
          <a:srcRect l="40606" t="17627" r="15252" b="19250"/>
          <a:stretch/>
        </p:blipFill>
        <p:spPr>
          <a:xfrm>
            <a:off x="6770880" y="262440"/>
            <a:ext cx="726120" cy="718920"/>
          </a:xfrm>
          <a:prstGeom prst="rect">
            <a:avLst/>
          </a:prstGeom>
          <a:ln w="0">
            <a:noFill/>
          </a:ln>
        </p:spPr>
      </p:pic>
      <p:pic>
        <p:nvPicPr>
          <p:cNvPr id="6" name="FER_logo" descr="A close up of a logo&#10;&#10;Description automatically generated"/>
          <p:cNvPicPr/>
          <p:nvPr/>
        </p:nvPicPr>
        <p:blipFill>
          <a:blip r:embed="rId6">
            <a:alphaModFix amt="79000"/>
          </a:blip>
          <a:srcRect l="13477" t="23723" r="15699" b="21457"/>
          <a:stretch/>
        </p:blipFill>
        <p:spPr>
          <a:xfrm>
            <a:off x="7629120" y="345240"/>
            <a:ext cx="1186920" cy="581400"/>
          </a:xfrm>
          <a:prstGeom prst="rect">
            <a:avLst/>
          </a:prstGeom>
          <a:ln w="0">
            <a:noFill/>
          </a:ln>
        </p:spPr>
      </p:pic>
      <p:sp>
        <p:nvSpPr>
          <p:cNvPr id="7" name="Course"/>
          <p:cNvSpPr/>
          <p:nvPr/>
        </p:nvSpPr>
        <p:spPr>
          <a:xfrm>
            <a:off x="6310080" y="2336760"/>
            <a:ext cx="239724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1000"/>
          </a:bodyPr>
          <a:p>
            <a:pPr>
              <a:lnSpc>
                <a:spcPct val="110000"/>
              </a:lnSpc>
              <a:buNone/>
            </a:pPr>
            <a:r>
              <a:rPr b="1" lang="hr-HR" sz="1800" spc="-1" strike="noStrike" cap="small">
                <a:solidFill>
                  <a:srgbClr val="363636"/>
                </a:solidFill>
                <a:latin typeface="Century Gothic"/>
                <a:ea typeface="DejaVu Sans"/>
              </a:rPr>
              <a:t>Programsko inženjerstvo</a:t>
            </a:r>
            <a:endParaRPr b="0" lang="hr-HR" sz="1800" spc="-1" strike="noStrike">
              <a:latin typeface="Arial"/>
            </a:endParaRPr>
          </a:p>
          <a:p>
            <a:pPr>
              <a:lnSpc>
                <a:spcPct val="110000"/>
              </a:lnSpc>
              <a:buNone/>
            </a:pPr>
            <a:r>
              <a:rPr b="1" lang="hr-HR" sz="1800" spc="-1" strike="noStrike" cap="small">
                <a:solidFill>
                  <a:srgbClr val="363636"/>
                </a:solidFill>
                <a:latin typeface="Century Gothic"/>
                <a:ea typeface="DejaVu Sans"/>
              </a:rPr>
              <a:t>ID 183400</a:t>
            </a:r>
            <a:endParaRPr b="0" lang="hr-HR" sz="1800" spc="-1" strike="noStrike">
              <a:latin typeface="Arial"/>
            </a:endParaRPr>
          </a:p>
        </p:txBody>
      </p:sp>
      <p:pic>
        <p:nvPicPr>
          <p:cNvPr id="8" name="Picture 15" descr=""/>
          <p:cNvPicPr/>
          <p:nvPr/>
        </p:nvPicPr>
        <p:blipFill>
          <a:blip r:embed="rId7"/>
          <a:stretch/>
        </p:blipFill>
        <p:spPr>
          <a:xfrm>
            <a:off x="187920" y="0"/>
            <a:ext cx="3203280" cy="2773080"/>
          </a:xfrm>
          <a:prstGeom prst="rect">
            <a:avLst/>
          </a:prstGeom>
          <a:ln w="0">
            <a:noFill/>
          </a:ln>
        </p:spPr>
      </p:pic>
      <p:sp>
        <p:nvSpPr>
          <p:cNvPr id="9" name="TextBox 3"/>
          <p:cNvSpPr/>
          <p:nvPr/>
        </p:nvSpPr>
        <p:spPr>
          <a:xfrm>
            <a:off x="2757240" y="3267000"/>
            <a:ext cx="3369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hr-HR" sz="2000" spc="-1" strike="noStrike" cap="all">
                <a:solidFill>
                  <a:srgbClr val="404040"/>
                </a:solidFill>
                <a:latin typeface="Franklin Gothic Demi"/>
                <a:ea typeface="DejaVu Sans"/>
              </a:rPr>
              <a:t>Prezentacija</a:t>
            </a:r>
            <a:r>
              <a:rPr b="0" lang="hr-HR" sz="2000" spc="-1" strike="noStrike">
                <a:solidFill>
                  <a:srgbClr val="000000"/>
                </a:solidFill>
                <a:latin typeface="Franklin Gothic Demi"/>
                <a:ea typeface="DejaVu Sans"/>
              </a:rPr>
              <a:t> </a:t>
            </a:r>
            <a:r>
              <a:rPr b="0" lang="hr-HR" sz="2000" spc="-1" strike="noStrike" cap="all">
                <a:solidFill>
                  <a:srgbClr val="404040"/>
                </a:solidFill>
                <a:latin typeface="Franklin Gothic Demi"/>
                <a:ea typeface="DejaVu Sans"/>
              </a:rPr>
              <a:t>projekta</a:t>
            </a:r>
            <a:endParaRPr b="0" lang="hr-HR" sz="2000" spc="-1" strike="noStrike"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r>
              <a:rPr b="0" lang="hr-HR" sz="1800" spc="-1" strike="noStrike">
                <a:latin typeface="Arial"/>
              </a:rPr>
              <a:t>Kliknite za uređivanje formata teksta naslova</a:t>
            </a:r>
            <a:endParaRPr b="0" lang="hr-HR" sz="18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1800" spc="-1" strike="noStrike">
                <a:latin typeface="Arial"/>
              </a:rPr>
              <a:t>Kliknite za uređivanje formata teksta strukture</a:t>
            </a:r>
            <a:endParaRPr b="0" lang="hr-H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1800" spc="-1" strike="noStrike">
                <a:latin typeface="Arial"/>
              </a:rPr>
              <a:t>Druga razina strukture</a:t>
            </a:r>
            <a:endParaRPr b="0" lang="hr-H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1800" spc="-1" strike="noStrike">
                <a:latin typeface="Arial"/>
              </a:rPr>
              <a:t>Treća razina strukture</a:t>
            </a:r>
            <a:endParaRPr b="0" lang="hr-H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1800" spc="-1" strike="noStrike">
                <a:latin typeface="Arial"/>
              </a:rPr>
              <a:t>Četvrta razina strukture</a:t>
            </a:r>
            <a:endParaRPr b="0" lang="hr-H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1800" spc="-1" strike="noStrike">
                <a:latin typeface="Arial"/>
              </a:rPr>
              <a:t>Peta razina strukture</a:t>
            </a:r>
            <a:endParaRPr b="0" lang="hr-H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1800" spc="-1" strike="noStrike">
                <a:latin typeface="Arial"/>
              </a:rPr>
              <a:t>Šesta razina strukture</a:t>
            </a:r>
            <a:endParaRPr b="0" lang="hr-H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1800" spc="-1" strike="noStrike">
                <a:latin typeface="Arial"/>
              </a:rPr>
              <a:t>Sedma razina strukture</a:t>
            </a:r>
            <a:endParaRPr b="0" lang="hr-H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7"/>
          <p:cNvSpPr/>
          <p:nvPr/>
        </p:nvSpPr>
        <p:spPr>
          <a:xfrm>
            <a:off x="72000" y="887400"/>
            <a:ext cx="8998920" cy="4464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Rectangle 7"/>
          <p:cNvSpPr/>
          <p:nvPr/>
        </p:nvSpPr>
        <p:spPr>
          <a:xfrm>
            <a:off x="0" y="6816240"/>
            <a:ext cx="9142920" cy="34920"/>
          </a:xfrm>
          <a:prstGeom prst="rect">
            <a:avLst/>
          </a:prstGeom>
          <a:gradFill rotWithShape="0">
            <a:gsLst>
              <a:gs pos="3000">
                <a:srgbClr val="ffffff">
                  <a:alpha val="56078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0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240" cy="547560"/>
          </a:xfrm>
          <a:prstGeom prst="rect">
            <a:avLst/>
          </a:prstGeom>
          <a:ln w="0">
            <a:noFill/>
          </a:ln>
        </p:spPr>
      </p:pic>
      <p:pic>
        <p:nvPicPr>
          <p:cNvPr id="51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3600" cy="30528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hr-HR" sz="4400" spc="-1" strike="noStrike">
                <a:latin typeface="Arial"/>
              </a:rPr>
              <a:t>Kliknite za uređivanje formata teksta naslova</a:t>
            </a:r>
            <a:endParaRPr b="0" lang="hr-HR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3200" spc="-1" strike="noStrike">
                <a:latin typeface="Arial"/>
              </a:rPr>
              <a:t>Kliknite za uređivanje formata teksta strukture</a:t>
            </a:r>
            <a:endParaRPr b="0" lang="hr-H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800" spc="-1" strike="noStrike">
                <a:latin typeface="Arial"/>
              </a:rPr>
              <a:t>Druga razina strukture</a:t>
            </a:r>
            <a:endParaRPr b="0" lang="hr-H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400" spc="-1" strike="noStrike">
                <a:latin typeface="Arial"/>
              </a:rPr>
              <a:t>Treća razina strukture</a:t>
            </a:r>
            <a:endParaRPr b="0" lang="hr-H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000" spc="-1" strike="noStrike">
                <a:latin typeface="Arial"/>
              </a:rPr>
              <a:t>Četvrta razina strukture</a:t>
            </a:r>
            <a:endParaRPr b="0" lang="hr-H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latin typeface="Arial"/>
              </a:rPr>
              <a:t>Peta razina strukture</a:t>
            </a:r>
            <a:endParaRPr b="0" lang="hr-H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latin typeface="Arial"/>
              </a:rPr>
              <a:t>Šesta razina strukture</a:t>
            </a:r>
            <a:endParaRPr b="0" lang="hr-H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latin typeface="Arial"/>
              </a:rPr>
              <a:t>Sedma razina strukture</a:t>
            </a:r>
            <a:endParaRPr b="0" lang="hr-H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2960" y="3751920"/>
            <a:ext cx="8244000" cy="14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 anchorCtr="1">
            <a:normAutofit/>
          </a:bodyPr>
          <a:p>
            <a:pPr algn="ctr">
              <a:lnSpc>
                <a:spcPct val="150000"/>
              </a:lnSpc>
              <a:buNone/>
            </a:pPr>
            <a:r>
              <a:rPr b="0" lang="hr-HR" sz="4000" spc="-1" strike="noStrike" cap="all">
                <a:solidFill>
                  <a:srgbClr val="404040"/>
                </a:solidFill>
                <a:latin typeface="Franklin Gothic Demi"/>
              </a:rPr>
              <a:t>&lt;</a:t>
            </a:r>
            <a:r>
              <a:rPr b="0" lang="en-US" sz="4000" spc="-1" strike="noStrike" cap="all">
                <a:solidFill>
                  <a:srgbClr val="404040"/>
                </a:solidFill>
                <a:latin typeface="Franklin Gothic Demi"/>
              </a:rPr>
              <a:t>Dance Arena</a:t>
            </a:r>
            <a:r>
              <a:rPr b="0" lang="hr-HR" sz="4000" spc="-1" strike="noStrike" cap="all">
                <a:solidFill>
                  <a:srgbClr val="404040"/>
                </a:solidFill>
                <a:latin typeface="Franklin Gothic Demi"/>
              </a:rPr>
              <a:t>&gt;</a:t>
            </a:r>
            <a:endParaRPr b="0" lang="hr-HR" sz="40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99480" y="5227200"/>
            <a:ext cx="7771320" cy="5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1400" spc="-1" strike="noStrike">
                <a:solidFill>
                  <a:srgbClr val="000000"/>
                </a:solidFill>
                <a:latin typeface="Franklin Gothic Book"/>
              </a:rPr>
              <a:t>Tim:  TG </a:t>
            </a:r>
            <a:r>
              <a:rPr b="0" lang="en-US" sz="1400" spc="-1" strike="noStrike">
                <a:solidFill>
                  <a:srgbClr val="000000"/>
                </a:solidFill>
                <a:latin typeface="Franklin Gothic Book"/>
              </a:rPr>
              <a:t>14</a:t>
            </a:r>
            <a:r>
              <a:rPr b="0" lang="hr-HR" sz="1400" spc="-1" strike="noStrike">
                <a:solidFill>
                  <a:srgbClr val="000000"/>
                </a:solidFill>
                <a:latin typeface="Franklin Gothic Book"/>
              </a:rPr>
              <a:t>.</a:t>
            </a:r>
            <a:r>
              <a:rPr b="0" lang="en-US" sz="1400" spc="-1" strike="noStrike">
                <a:solidFill>
                  <a:srgbClr val="000000"/>
                </a:solidFill>
                <a:latin typeface="Franklin Gothic Book"/>
              </a:rPr>
              <a:t>2</a:t>
            </a:r>
            <a:r>
              <a:rPr b="0" lang="hr-HR" sz="1400" spc="-1" strike="noStrike">
                <a:solidFill>
                  <a:srgbClr val="000000"/>
                </a:solidFill>
                <a:latin typeface="Franklin Gothic Book"/>
              </a:rPr>
              <a:t> &lt;</a:t>
            </a:r>
            <a:r>
              <a:rPr b="0" lang="en-US" sz="1400" spc="-1" strike="noStrike">
                <a:solidFill>
                  <a:srgbClr val="000000"/>
                </a:solidFill>
                <a:latin typeface="Franklin Gothic Book"/>
              </a:rPr>
              <a:t>UnderDogs</a:t>
            </a:r>
            <a:r>
              <a:rPr b="0" lang="hr-HR" sz="1400" spc="-1" strike="noStrike">
                <a:solidFill>
                  <a:srgbClr val="000000"/>
                </a:solidFill>
                <a:latin typeface="Franklin Gothic Book"/>
              </a:rPr>
              <a:t>&gt;</a:t>
            </a:r>
            <a:endParaRPr b="0" lang="hr-HR" sz="1400" spc="-1" strike="noStrike"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1200" spc="-1" strike="noStrike">
                <a:solidFill>
                  <a:srgbClr val="000000"/>
                </a:solidFill>
                <a:latin typeface="Franklin Gothic Book"/>
              </a:rPr>
              <a:t>Ak. god. 2025./2025.</a:t>
            </a:r>
            <a:endParaRPr b="0" lang="hr-H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Sadržaj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8920" cy="53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Članovi tima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 projektu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Funkcijski zahtjevi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Pregled nefunkcijskih zahtjeva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UML dijagram obrazaca uporabe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Arhitektura sustava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Ispitivanje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Tehnologije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Organizacija rada 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Zaključak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C254C45A-C65E-411C-87B0-46E2387B2C75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1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Članovi grupe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8920" cy="53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Filip Fabijanec – backend + voditelj tima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Josip Petričević – frontend + backend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Vito Cindori – backend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Martin Tomišić – baza podataka + backend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Marija Jurić – frontend 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David Premuš – dokumentacija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Ivona Gašparić – dokumentacija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5DDCF223-CFEE-4E8F-9E38-876CC27E6D3B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1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O projektu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8920" cy="53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rgbClr val="000000"/>
                </a:solidFill>
                <a:latin typeface="Franklin Gothic Book"/>
              </a:rPr>
              <a:t>DanceArena omogućuje lakše povezivanje plesne zajednice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Cilj: organizatorima omogućuje lakše organiziranje plesnih natjecanja, voditeljima klubova olakšava prijavu nastupa svojih grupa na natjecanja te sucima lako ocjenjivanje istih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“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Danssup” je platforma koja omogućuje postavljanje vlastitih plesnih sadržaja te također omogućuje povezivanje plesne zajednice, no ne omogućava održavanje plesnih natjecanja</a:t>
            </a:r>
            <a:endParaRPr b="0" lang="hr-HR" sz="24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8F91A98C-8850-44AA-B853-385A3B9C9CF9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4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funkcijski zahtjevi</a:t>
            </a:r>
            <a:r>
              <a:rPr b="0" lang="en-US" sz="18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endParaRPr b="0" lang="hr-HR" sz="1800" spc="-1" strike="noStrike">
              <a:latin typeface="Arial"/>
            </a:endParaRPr>
          </a:p>
        </p:txBody>
      </p:sp>
      <p:sp>
        <p:nvSpPr>
          <p:cNvPr id="108" name="Content Placeholder 1"/>
          <p:cNvSpPr/>
          <p:nvPr/>
        </p:nvSpPr>
        <p:spPr>
          <a:xfrm>
            <a:off x="72360" y="972360"/>
            <a:ext cx="8998920" cy="53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Voditelj kluba može prijaviti svoju skupinu na natjecanje i platiti kotizaciju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Suci mogu ocjenjivati pojedine nastupe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Organizator može kreirati, urediti i obrisati plesno natjecanje</a:t>
            </a:r>
            <a:endParaRPr b="0" lang="hr-H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Pregled nefunkcijskih zahtjeva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60000" y="1260000"/>
            <a:ext cx="8027280" cy="280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Sustav mora osigurati stabilan rad i dostupnost 24/7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Mora pouzdano podržavati rad više korisnika u istome trenutku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Omogućiti autentifikaciju pomoću vanjskog servisa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Mora imati respozivan dizajn koji omogućuje korištenje na različitim uređajima 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CEF229FB-2264-46DF-8279-1BC869735413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UML dijagram obrazaca uporabe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08CBF953-D7C7-4F5B-8B4E-0264362D7B6F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279440" y="1116000"/>
            <a:ext cx="6639840" cy="53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Arhitektura sustava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E81E8F1E-6A93-41BD-90D6-54747FB5F6C6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80000" y="1025640"/>
            <a:ext cx="7379280" cy="5302440"/>
          </a:xfrm>
          <a:prstGeom prst="rect">
            <a:avLst/>
          </a:prstGeom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360000" y="6480000"/>
            <a:ext cx="34999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Dijagram razreda</a:t>
            </a:r>
            <a:endParaRPr b="0" lang="hr-H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Ispitivanje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8920" cy="53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Organizacija ispitivanja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Jest &gt; ispitivanje komponenti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Selenium IDE&gt; ispitivanje sustava</a:t>
            </a: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Testovi kojima smo ispitivali sustav: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1. Prijava voditelja kluba – redovan slučaj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2. Prijava natjecanja bez objavljivanja glazbe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3. Prijava s pogrešnom šifrom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4. Stvaranje novog natjecanja s manje od 3 suca</a:t>
            </a:r>
            <a:endParaRPr b="0" lang="hr-HR" sz="2400" spc="-1" strike="noStrike"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5. Pokušaj pristupa natjecanju nepostojećim URL-om</a:t>
            </a:r>
            <a:endParaRPr b="0" lang="hr-HR" sz="24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61E48C29-F148-44B8-9B93-DBD4F1399341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Tehnologije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836488B8-C45B-4BF2-9551-4CF45727F9CC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  <p:sp>
        <p:nvSpPr>
          <p:cNvPr id="124" name="Content Placeholder 3"/>
          <p:cNvSpPr/>
          <p:nvPr/>
        </p:nvSpPr>
        <p:spPr>
          <a:xfrm>
            <a:off x="360" y="900360"/>
            <a:ext cx="8998920" cy="53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hr-HR" sz="18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Frontend &gt; React.js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Backend &gt; Node.js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Baza podataka &gt; MongoDB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UML dijagrami &gt; Astah UML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DejaVu Sans"/>
              </a:rPr>
              <a:t>Komunikacija &gt; Whatsapp i Discord</a:t>
            </a:r>
            <a:endParaRPr b="0" lang="hr-H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Organizacija rada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72000" y="1440000"/>
            <a:ext cx="8998920" cy="53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Razvoj kroz faze: specifikacija, implementacija funkcionalnosti, dokumentacija i ispitivanje sustava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Fleksibilna organizacija vremena bez strogo definiranog rasporeda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Dokumentacija pisana paralelno s razvojem stranice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Prilagodba rasporeda i preuzimanje zadataka drugih članova ako je bilo potrebno</a:t>
            </a:r>
            <a:endParaRPr b="0" lang="hr-HR" sz="24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4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0EBDDFFF-3DB6-4D39-9C40-DCF02041ACFC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Dnevnik rada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0DA76366-0D6A-44E6-AE17-D63BB0A5708C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  <p:graphicFrame>
        <p:nvGraphicFramePr>
          <p:cNvPr id="130" name=""/>
          <p:cNvGraphicFramePr/>
          <p:nvPr/>
        </p:nvGraphicFramePr>
        <p:xfrm>
          <a:off x="1912680" y="1600560"/>
          <a:ext cx="4999680" cy="4073040"/>
        </p:xfrm>
        <a:graphic>
          <a:graphicData uri="http://schemas.openxmlformats.org/drawingml/2006/table">
            <a:tbl>
              <a:tblPr/>
              <a:tblGrid>
                <a:gridCol w="2507400"/>
                <a:gridCol w="2492280"/>
              </a:tblGrid>
              <a:tr h="64368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Ime Člana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Ukupan broj sati rada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56052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Filip Fabijanec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160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1516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Josip Petričević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151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54900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Vito Cindori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147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424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Martin Tomišić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148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424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David Premuš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90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972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Marija Jurić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93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6008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Ivona Gašparić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hr-HR" sz="1800" spc="-1" strike="noStrike">
                          <a:latin typeface="Arial"/>
                        </a:rPr>
                        <a:t>90</a:t>
                      </a:r>
                      <a:endParaRPr b="0" lang="hr-HR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8920" cy="82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Zaključak</a:t>
            </a:r>
            <a:endParaRPr b="0" lang="hr-HR" sz="28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8920" cy="53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Naučene lekcije</a:t>
            </a:r>
            <a:endParaRPr b="0" lang="hr-HR" sz="2400" spc="-1" strike="noStrike">
              <a:latin typeface="Arial"/>
            </a:endParaRPr>
          </a:p>
          <a:p>
            <a:pPr lvl="1" marL="487080" indent="-34308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Dobro: </a:t>
            </a:r>
            <a:endParaRPr b="0" lang="hr-HR" sz="20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Timski rad i komunikacija</a:t>
            </a:r>
            <a:endParaRPr b="0" lang="hr-HR" sz="20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Brzo rješavanje problema</a:t>
            </a:r>
            <a:endParaRPr b="0" lang="hr-HR" sz="20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Timska podrška povećava motivaciju</a:t>
            </a:r>
            <a:endParaRPr b="0" lang="hr-H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hr-HR" sz="2000" spc="-1" strike="noStrike">
              <a:latin typeface="Arial"/>
            </a:endParaRPr>
          </a:p>
          <a:p>
            <a:pPr lvl="1" marL="487080" indent="-34308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Loše: </a:t>
            </a:r>
            <a:endParaRPr b="0" lang="hr-HR" sz="20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Rad bez plana i programa</a:t>
            </a:r>
            <a:endParaRPr b="0" lang="hr-HR" sz="20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Loša organizacija vremena</a:t>
            </a:r>
            <a:endParaRPr b="0" lang="hr-HR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hr-HR" sz="20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</a:pPr>
            <a:endParaRPr b="0" lang="hr-HR" sz="20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/>
          </p:nvPr>
        </p:nvSpPr>
        <p:spPr>
          <a:xfrm>
            <a:off x="8549280" y="6500880"/>
            <a:ext cx="474120" cy="28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6C57CD2A-F749-4C3B-ACD7-FA87BA8386D9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1240</TotalTime>
  <Application>LibreOffice/7.2.7.2$Windows_X86_64 LibreOffice_project/8d71d29d553c0f7dcbfa38fbfda25ee34cce99a2</Application>
  <AppVersion>15.0000</AppVersion>
  <Words>422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2016-01-18T13:10:52Z</dcterms:created>
  <dc:creator>nfrid</dc:creator>
  <dc:description/>
  <dc:language>hr-HR</dc:language>
  <cp:lastModifiedBy/>
  <dcterms:modified xsi:type="dcterms:W3CDTF">2026-01-22T19:45:35Z</dcterms:modified>
  <cp:revision>30</cp:revision>
  <dc:subject/>
  <dc:title>&lt;Naziv projekta&gt;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Prikaz na zaslonu (4:3)</vt:lpwstr>
  </property>
  <property fmtid="{D5CDD505-2E9C-101B-9397-08002B2CF9AE}" pid="4" name="Slides">
    <vt:i4>14</vt:i4>
  </property>
</Properties>
</file>